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Kanit" panose="020B0604020202020204" charset="-34"/>
      <p:regular r:id="rId11"/>
    </p:embeddedFont>
    <p:embeddedFont>
      <p:font typeface="Martel Sans Bold" panose="020B0604020202020204" charset="0"/>
      <p:regular r:id="rId12"/>
    </p:embeddedFont>
    <p:embeddedFont>
      <p:font typeface="Martel Sans Light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44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2995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QuickRes — Agentic AI-Based Ticket Resolution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515592"/>
            <a:ext cx="10795524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Autonomous AI that investigates, resolves, and verifies support tickets while escalating high-risk actions to human agents. Built for evidence-first decisions, transparent reasoning, and controlled automation.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Team Members: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17165" y="3921820"/>
            <a:ext cx="10476444" cy="140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Karthik C ( 231501073 )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Pragadeesh Kumar L D ( 231501117 )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Lovisha Karol C ( 231501088 )</a:t>
            </a:r>
            <a:endParaRPr lang="en-US" sz="15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760FE0-715E-E4F9-6016-BDE8DBF20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893" y="6210210"/>
            <a:ext cx="1886213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104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 &amp; Motivation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98086" y="1521718"/>
            <a:ext cx="3481598" cy="2649637"/>
          </a:xfrm>
          <a:prstGeom prst="roundRect">
            <a:avLst>
              <a:gd name="adj" fmla="val 1059"/>
            </a:avLst>
          </a:prstGeom>
          <a:solidFill>
            <a:srgbClr val="2F2B54"/>
          </a:solidFill>
          <a:ln/>
        </p:spPr>
      </p:sp>
      <p:sp>
        <p:nvSpPr>
          <p:cNvPr id="4" name="Shape 2"/>
          <p:cNvSpPr/>
          <p:nvPr/>
        </p:nvSpPr>
        <p:spPr>
          <a:xfrm>
            <a:off x="885009" y="1708646"/>
            <a:ext cx="560969" cy="560983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290" y="1862931"/>
            <a:ext cx="252406" cy="2524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009" y="2444948"/>
            <a:ext cx="310775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Volume &amp; Repetition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5009" y="2825155"/>
            <a:ext cx="3107751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 throughput of repetitive tickets consumes agent capacity and increases mean time to resolution.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54999" y="1521718"/>
            <a:ext cx="3481598" cy="2649637"/>
          </a:xfrm>
          <a:prstGeom prst="roundRect">
            <a:avLst>
              <a:gd name="adj" fmla="val 1059"/>
            </a:avLst>
          </a:prstGeom>
          <a:solidFill>
            <a:srgbClr val="2F2B54"/>
          </a:solidFill>
          <a:ln/>
        </p:spPr>
      </p:sp>
      <p:sp>
        <p:nvSpPr>
          <p:cNvPr id="9" name="Shape 6"/>
          <p:cNvSpPr/>
          <p:nvPr/>
        </p:nvSpPr>
        <p:spPr>
          <a:xfrm>
            <a:off x="4541922" y="1708646"/>
            <a:ext cx="560969" cy="560983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6204" y="1862931"/>
            <a:ext cx="252406" cy="2524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1922" y="2444948"/>
            <a:ext cx="310775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Fragmented Evidence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41922" y="2825155"/>
            <a:ext cx="3107751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Relevant data scattered across knowledge bases, past cases, and customer systems — manual correlation is slow and error-prone.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11912" y="1521718"/>
            <a:ext cx="3481697" cy="2649637"/>
          </a:xfrm>
          <a:prstGeom prst="roundRect">
            <a:avLst>
              <a:gd name="adj" fmla="val 1059"/>
            </a:avLst>
          </a:prstGeom>
          <a:solidFill>
            <a:srgbClr val="2F2B54"/>
          </a:solidFill>
          <a:ln/>
        </p:spPr>
      </p:sp>
      <p:sp>
        <p:nvSpPr>
          <p:cNvPr id="14" name="Shape 10"/>
          <p:cNvSpPr/>
          <p:nvPr/>
        </p:nvSpPr>
        <p:spPr>
          <a:xfrm>
            <a:off x="8198836" y="1708646"/>
            <a:ext cx="560969" cy="560983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3117" y="1862931"/>
            <a:ext cx="252406" cy="2524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98836" y="2444948"/>
            <a:ext cx="310785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Limits of Chatbots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198836" y="2825155"/>
            <a:ext cx="3107850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Conventional bots generate responses but rarely perform investigation, verification, or policy-driven actions safely.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98086" y="4346674"/>
            <a:ext cx="10795524" cy="1780183"/>
          </a:xfrm>
          <a:prstGeom prst="roundRect">
            <a:avLst>
              <a:gd name="adj" fmla="val 1576"/>
            </a:avLst>
          </a:prstGeom>
          <a:solidFill>
            <a:srgbClr val="2F2B54"/>
          </a:solidFill>
          <a:ln/>
        </p:spPr>
      </p:sp>
      <p:sp>
        <p:nvSpPr>
          <p:cNvPr id="19" name="Shape 14"/>
          <p:cNvSpPr/>
          <p:nvPr/>
        </p:nvSpPr>
        <p:spPr>
          <a:xfrm>
            <a:off x="885009" y="4533602"/>
            <a:ext cx="560969" cy="560983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290" y="4687888"/>
            <a:ext cx="252406" cy="2524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5009" y="5269905"/>
            <a:ext cx="1042167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Human Control Required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85009" y="5650111"/>
            <a:ext cx="10421677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Sensitive actions (refunds, cancellations, account changes) must preserve human oversight and auditability.</a:t>
            </a:r>
            <a:endParaRPr lang="en-US" sz="14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5B76DE-FBAB-EF09-CB45-EB6AC7013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8895" y="6468170"/>
            <a:ext cx="1886213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9459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QuickRes — Solution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2062956"/>
            <a:ext cx="1079552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QuickRes acts as an AI support agent — not just a chatbot. It autonomously: understands tickets, plans investigations, retrieves evidence, reasons with multi-agent collaboration, executes low-risk actions, and escalates high-risk decisions to humans.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244850"/>
            <a:ext cx="5298049" cy="24185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7542" y="3419872"/>
            <a:ext cx="299137" cy="2991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2910" y="4068068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Primary Users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22910" y="4481016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Customer Support Agents • Support Managers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5560" y="3244850"/>
            <a:ext cx="5298049" cy="241855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5016" y="3419872"/>
            <a:ext cx="299137" cy="29914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20384" y="4068068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6420384" y="4481016"/>
            <a:ext cx="4848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Multi-agent collaboration, Agentic RAG, enterprise tool usage, stateful ticket memory, reflection &amp; self-correction, risk-based escalation.</a:t>
            </a:r>
            <a:endParaRPr lang="en-US" sz="15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B40343-8B99-343D-AF02-776E9C1CD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787" y="6162729"/>
            <a:ext cx="1886213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701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Agentic Architecture — System Overview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549896"/>
            <a:ext cx="5718528" cy="38123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9520" y="1524992"/>
            <a:ext cx="459034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Core Workflow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09520" y="2017713"/>
            <a:ext cx="4590340" cy="2194123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Intake: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receive the ticket.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Routing: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send tasks to the right agents.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Knowledge: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pull from docs, tickets, and context.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Decision: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assess confidence and risk.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Action: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execute approved steps or escalate.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09520" y="4436170"/>
            <a:ext cx="4590340" cy="1096963"/>
          </a:xfrm>
          <a:prstGeom prst="roundRect">
            <a:avLst>
              <a:gd name="adj" fmla="val 2728"/>
            </a:avLst>
          </a:prstGeom>
          <a:solidFill>
            <a:srgbClr val="7E010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945" y="4714081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57700" y="4665464"/>
            <a:ext cx="374273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High-risk or unclear cases go to a human.</a:t>
            </a:r>
            <a:endParaRPr lang="en-US" sz="15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8A58B-2074-3424-5F30-5C337947A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787" y="6129659"/>
            <a:ext cx="1886213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53070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Agentic RAG &amp; Authorized Tool Usage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47950"/>
            <a:ext cx="5154484" cy="2330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6625" y="4475572"/>
            <a:ext cx="1082053" cy="13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Evaluate &amp; Resolve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6625" y="4651634"/>
            <a:ext cx="1752747" cy="229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Evaluates relevance → Refines retrieval → Uses evidence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136625" y="3918562"/>
            <a:ext cx="1082053" cy="13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Source &amp; Retrieval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36625" y="4094624"/>
            <a:ext cx="1752747" cy="114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Selects source → Retrieves evidence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136625" y="3361553"/>
            <a:ext cx="1082053" cy="13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Agentic RAG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625" y="3537615"/>
            <a:ext cx="1752747" cy="114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Ticket → Agent decides required info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36625" y="2804544"/>
            <a:ext cx="1082053" cy="13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Conventional RAG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6625" y="2980605"/>
            <a:ext cx="1752747" cy="229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Ticket → Vector search → Top-K documents → LLM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345476" y="1701105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Conventional RAG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Ticket → Vector search → Top-K documents → LLM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345476" y="2613620"/>
            <a:ext cx="5154484" cy="25400"/>
          </a:xfrm>
          <a:prstGeom prst="roundRect">
            <a:avLst>
              <a:gd name="adj" fmla="val 49999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45476" y="2913162"/>
            <a:ext cx="515448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QuickRes Agentic RAG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Ticket → Agent decides required info → Selects source → Retrieves evidence → Evaluates relevance → Refines retrieval → Uses evidence for resolution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345476" y="4369395"/>
            <a:ext cx="5154484" cy="166568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Sources: Knowledge base, historical cases, customer records, orders, subscriptions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Authorized tools: get_customer(), get_order(), check_payment(), check_subscription(), create_refund(), update_ticket()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34418A-2A4D-7560-492C-837D0DAAA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893" y="6210210"/>
            <a:ext cx="1886213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2691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Reflection &amp; Human-in-the-Loop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563688"/>
            <a:ext cx="4607008" cy="28518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0566" y="3276229"/>
            <a:ext cx="870195" cy="140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Decide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10566" y="3459044"/>
            <a:ext cx="870195" cy="346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Choose action or flag for human review.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10566" y="1748043"/>
            <a:ext cx="870195" cy="140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Retrieve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0566" y="1930858"/>
            <a:ext cx="870195" cy="346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Fetch relevant sources and prior outputs.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317876" y="2777446"/>
            <a:ext cx="870195" cy="280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Evaluate Evidence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317876" y="3100627"/>
            <a:ext cx="870195" cy="346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Assess relevance, sufficiency, and conflicts.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67640" y="1433413"/>
            <a:ext cx="634180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Reflection / Self-Correction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767640" y="1880989"/>
            <a:ext cx="5732220" cy="992088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Assess evidence relevance and sufficiency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Cross-check conflicting sources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Revise retrieval and reasoning when confidence is low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767640" y="3030835"/>
            <a:ext cx="634180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Human-in-the-Loop Policy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767640" y="3517801"/>
            <a:ext cx="5732220" cy="988616"/>
          </a:xfrm>
          <a:prstGeom prst="roundRect">
            <a:avLst>
              <a:gd name="adj" fmla="val 2837"/>
            </a:avLst>
          </a:prstGeom>
          <a:solidFill>
            <a:srgbClr val="7E010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64" y="3760391"/>
            <a:ext cx="233754" cy="18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75241" y="3722291"/>
            <a:ext cx="4937696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Goal: maximize safe automation while preserving control and auditability.</a:t>
            </a:r>
            <a:endParaRPr lang="en-US" sz="14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900712"/>
            <a:ext cx="5310055" cy="13844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2006" y="5113040"/>
            <a:ext cx="478381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Autonomous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012006" y="5493246"/>
            <a:ext cx="4783812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Update ticket classification, send routine responses, execute low-risk updates</a:t>
            </a:r>
            <a:endParaRPr lang="en-US" sz="14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3455" y="4900712"/>
            <a:ext cx="5310154" cy="13844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7376" y="5113040"/>
            <a:ext cx="478391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Human Approval Required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497376" y="5493246"/>
            <a:ext cx="4783911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Issue refunds, modify account details, cancel subscriptions — actions gated by approval workflow</a:t>
            </a:r>
            <a:endParaRPr lang="en-US" sz="14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828B4AA-FE38-3282-01A7-F6631C233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0874" y="6390382"/>
            <a:ext cx="1886213" cy="444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5128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Implementation &amp; Evaluation Plan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684437"/>
            <a:ext cx="199425" cy="1994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1933277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5" name="Text 2"/>
          <p:cNvSpPr/>
          <p:nvPr/>
        </p:nvSpPr>
        <p:spPr>
          <a:xfrm>
            <a:off x="698086" y="2083792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Implementation Stack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2496741"/>
            <a:ext cx="529804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LangGraph orchestration • Multi-LLM experiments • Vector DB knowledge store • Mock/authorized enterprise APIs • Stateful ticket memory • Support-agent dashboard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560" y="1684437"/>
            <a:ext cx="199425" cy="19943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5560" y="1953220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9" name="Text 5"/>
          <p:cNvSpPr/>
          <p:nvPr/>
        </p:nvSpPr>
        <p:spPr>
          <a:xfrm>
            <a:off x="6195560" y="2083792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Evaluation Baselines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195560" y="2496741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1) No-RAG + LLM • 2) Conventional RAG • 3) Agentic RAG + Multi-Agent System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147344"/>
            <a:ext cx="199425" cy="19943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98086" y="4416127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3" name="Text 8"/>
          <p:cNvSpPr/>
          <p:nvPr/>
        </p:nvSpPr>
        <p:spPr>
          <a:xfrm>
            <a:off x="698086" y="4586585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Metrics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98086" y="4999534"/>
            <a:ext cx="529804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Resolution accuracy, retrieval quality, hallucination rate, policy compliance, escalation accuracy, response consistency, latency, cost</a:t>
            </a:r>
            <a:endParaRPr lang="en-US" sz="15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5560" y="4147344"/>
            <a:ext cx="199425" cy="19943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5560" y="4436070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7" name="Text 11"/>
          <p:cNvSpPr/>
          <p:nvPr/>
        </p:nvSpPr>
        <p:spPr>
          <a:xfrm>
            <a:off x="6195560" y="4586585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Experiment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195560" y="4999534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Compare multiple LLMs and orchestration strategies under identical test suites and adversarial edge cases.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C1F808-509C-EB49-351E-55C5E51E4F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7262" y="6151654"/>
            <a:ext cx="1886213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24756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Expected Outcomes &amp; Next Steps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093119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2093119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Outcomes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2506067"/>
            <a:ext cx="4525056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Higher resolution accuracy, evidence-grounded responses, fewer hallucinations, reduced manual investigation effort, safe automation of eligible actions, reliable escalation for high-risk decisions.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093119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8455" y="2093119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968455" y="2506067"/>
            <a:ext cx="4525155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Integrate with CRM/helpdesk platforms, incorporate agent feedback loops, expand enterprise tool coverage, continuous monitoring, adaptive risk policies and periodic audits.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98086" y="4376142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98086" y="4675684"/>
            <a:ext cx="1079552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Conclusion: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QuickRes converts support from response generation into autonomous, evidence-driven investigation and resolution — combining Agentic RAG, multi-agent reasoning, tool use, reflection, stateful memory, and controlled human oversight.</a:t>
            </a:r>
            <a:endParaRPr lang="en-US" sz="15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D53217-4555-F432-31F4-83299F035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573" y="6136193"/>
            <a:ext cx="1886213" cy="647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681</Words>
  <Application>Microsoft Office PowerPoint</Application>
  <PresentationFormat>Widescreen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Martel Sans Light</vt:lpstr>
      <vt:lpstr>Martel Sans Bold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Pragadeesh Kumar</cp:lastModifiedBy>
  <cp:revision>2</cp:revision>
  <dcterms:created xsi:type="dcterms:W3CDTF">2026-08-27T18:23:23Z</dcterms:created>
  <dcterms:modified xsi:type="dcterms:W3CDTF">2026-10-05T06:30:02Z</dcterms:modified>
</cp:coreProperties>
</file>